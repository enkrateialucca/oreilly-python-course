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00000"/>
                </a:solidFill>
                <a:latin typeface="Helvetica"/>
              </a:defRPr>
            </a:pPr>
            <a:r>
              <a:t>CONTEXT ENGINEERING 2.0</a:t>
            </a:r>
          </a:p>
          <a:p>
            <a:pPr>
              <a:spcBef>
                <a:spcPts val="1000"/>
              </a:spcBef>
              <a:defRPr sz="1800">
                <a:solidFill>
                  <a:srgbClr val="555555"/>
                </a:solidFill>
                <a:latin typeface="Helvetica"/>
              </a:defRPr>
            </a:pPr>
            <a:r>
              <a:t>The Context of Context Engineering (SII-GAIR, 2025)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55555"/>
                </a:solidFill>
                <a:latin typeface="Helvetica"/>
              </a:defRPr>
            </a:pPr>
            <a:r>
              <a:t>Key ideas &amp; design considerations for modern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66666"/>
                </a:solidFill>
                <a:latin typeface="Helvetica"/>
              </a:rPr>
              <a:t>© 2025 Automata Learning Lab | Professional educational materials crafted with care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00000"/>
                </a:solidFill>
                <a:latin typeface="Helvetica"/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Why context engineering matters now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Entropy reduction view + formal definition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Historical evolution: eras 1.0 → 4.0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Design considerations: collect, manage, use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Applications, challenges, future directions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66666"/>
                </a:solidFill>
                <a:latin typeface="Helvetica"/>
              </a:rPr>
              <a:t>© 2025 Automata Learning Lab | Professional educational materials crafted with care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00000"/>
                </a:solidFill>
                <a:latin typeface="Helvetica"/>
              </a:defRPr>
            </a:pPr>
            <a: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LLMs are sensitive to what’s inside the context window.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Long‑horizon reasoning needs more than a bigger window.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We need systematic ways to align machine behavior with human intent.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66666"/>
                </a:solidFill>
                <a:latin typeface="Helvetica"/>
              </a:rPr>
              <a:t>© 2025 Automata Learning Lab | Professional educational materials crafted with care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00000"/>
                </a:solidFill>
                <a:latin typeface="Helvetica"/>
              </a:defRPr>
            </a:pPr>
            <a:r>
              <a:t>WHAT IS CONTEXT ENGINEERING?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Practice of designing, organizing, and managing context so machines act on human intentions.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Includes prompting, RAG, tool use, memory, multimodal inputs, and context sharing.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3017520"/>
            <a:ext cx="10515600" cy="20116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600" b="1">
                <a:solidFill>
                  <a:srgbClr val="000000"/>
                </a:solidFill>
                <a:latin typeface="Helvetica"/>
              </a:defRPr>
            </a:pPr>
            <a:r>
              <a:t>Core idea = Entropy Reduction</a:t>
            </a:r>
          </a:p>
          <a:p>
            <a:pPr>
              <a:defRPr sz="1300">
                <a:solidFill>
                  <a:srgbClr val="333333"/>
                </a:solidFill>
                <a:latin typeface="Helvetica"/>
              </a:defRPr>
            </a:pPr>
            <a:r>
              <a:t>Humans fill gaps implicitly; machines can’t.</a:t>
            </a:r>
          </a:p>
          <a:p>
            <a:pPr>
              <a:defRPr sz="1300">
                <a:solidFill>
                  <a:srgbClr val="333333"/>
                </a:solidFill>
                <a:latin typeface="Helvetica"/>
              </a:defRPr>
            </a:pPr>
            <a:r>
              <a:t>So we compress high‑entropy real‑world intent</a:t>
            </a:r>
          </a:p>
          <a:p>
            <a:pPr>
              <a:defRPr sz="1300">
                <a:solidFill>
                  <a:srgbClr val="333333"/>
                </a:solidFill>
                <a:latin typeface="Helvetica"/>
              </a:defRPr>
            </a:pPr>
            <a:r>
              <a:t>into low‑entropy representations a model can use.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66666"/>
                </a:solidFill>
                <a:latin typeface="Helvetica"/>
              </a:rPr>
              <a:t>© 2025 Automata Learning Lab | Professional educational materials crafted with care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00000"/>
                </a:solidFill>
                <a:latin typeface="Helvetica"/>
              </a:defRPr>
            </a:pPr>
            <a:r>
              <a:t>A LONGER HISTORY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Context engineering predates LLMs by ~20 years.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Roots in ubiquitous computing, context‑aware systems, HCI.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Each leap in machine intelligence changes how we build interfaces.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66666"/>
                </a:solidFill>
                <a:latin typeface="Helvetica"/>
              </a:rPr>
              <a:t>© 2025 Automata Learning Lab | Professional educational materials crafted with care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00000"/>
                </a:solidFill>
                <a:latin typeface="Helvetica"/>
              </a:defRPr>
            </a:pPr>
            <a:r>
              <a:t>FOUR ERAS OF CONTEXT ENGINEERING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737360"/>
            <a:ext cx="2834640" cy="2011680"/>
          </a:xfrm>
          <a:prstGeom prst="roundRect">
            <a:avLst/>
          </a:prstGeom>
          <a:solidFill>
            <a:srgbClr val="F9F9F9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600" b="1">
                <a:solidFill>
                  <a:srgbClr val="000000"/>
                </a:solidFill>
                <a:latin typeface="Helvetica"/>
              </a:defRPr>
            </a:pPr>
            <a:r>
              <a:t>1.0 Primitive Computation</a:t>
            </a:r>
          </a:p>
          <a:p>
            <a:pPr>
              <a:defRPr sz="1300">
                <a:solidFill>
                  <a:srgbClr val="333333"/>
                </a:solidFill>
                <a:latin typeface="Helvetica"/>
              </a:defRPr>
            </a:pPr>
            <a:r>
              <a:t>1990s–2020</a:t>
            </a:r>
          </a:p>
          <a:p>
            <a:pPr>
              <a:defRPr sz="1300">
                <a:solidFill>
                  <a:srgbClr val="333333"/>
                </a:solidFill>
                <a:latin typeface="Helvetica"/>
              </a:defRPr>
            </a:pPr>
            <a:r>
              <a:t>Structured, low‑entropy inputs</a:t>
            </a:r>
          </a:p>
          <a:p>
            <a:pPr>
              <a:defRPr sz="1300">
                <a:solidFill>
                  <a:srgbClr val="333333"/>
                </a:solidFill>
                <a:latin typeface="Helvetica"/>
              </a:defRPr>
            </a:pPr>
            <a:r>
              <a:t>Humans translate intent for machines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11880" y="1737360"/>
            <a:ext cx="3017520" cy="2011680"/>
          </a:xfrm>
          <a:prstGeom prst="roundRect">
            <a:avLst/>
          </a:prstGeom>
          <a:solidFill>
            <a:srgbClr val="F9F9F9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600" b="1">
                <a:solidFill>
                  <a:srgbClr val="000000"/>
                </a:solidFill>
                <a:latin typeface="Helvetica"/>
              </a:defRPr>
            </a:pPr>
            <a:r>
              <a:t>2.0 Agent‑Centric Intelligence</a:t>
            </a:r>
          </a:p>
          <a:p>
            <a:pPr>
              <a:defRPr sz="1300">
                <a:solidFill>
                  <a:srgbClr val="333333"/>
                </a:solidFill>
                <a:latin typeface="Helvetica"/>
              </a:defRPr>
            </a:pPr>
            <a:r>
              <a:t>2020–present</a:t>
            </a:r>
          </a:p>
          <a:p>
            <a:pPr>
              <a:defRPr sz="1300">
                <a:solidFill>
                  <a:srgbClr val="333333"/>
                </a:solidFill>
                <a:latin typeface="Helvetica"/>
              </a:defRPr>
            </a:pPr>
            <a:r>
              <a:t>Natural language + ambiguity tolerance</a:t>
            </a:r>
          </a:p>
          <a:p>
            <a:pPr>
              <a:defRPr sz="1300">
                <a:solidFill>
                  <a:srgbClr val="333333"/>
                </a:solidFill>
                <a:latin typeface="Helvetica"/>
              </a:defRPr>
            </a:pPr>
            <a:r>
              <a:t>Prompting, RAG, tools, memory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12280" y="1737360"/>
            <a:ext cx="2651760" cy="2011680"/>
          </a:xfrm>
          <a:prstGeom prst="roundRect">
            <a:avLst/>
          </a:prstGeom>
          <a:solidFill>
            <a:srgbClr val="F9F9F9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600" b="1">
                <a:solidFill>
                  <a:srgbClr val="000000"/>
                </a:solidFill>
                <a:latin typeface="Helvetica"/>
              </a:defRPr>
            </a:pPr>
            <a:r>
              <a:t>3.0 Human‑Level (future)</a:t>
            </a:r>
          </a:p>
          <a:p>
            <a:pPr>
              <a:defRPr sz="1300">
                <a:solidFill>
                  <a:srgbClr val="333333"/>
                </a:solidFill>
                <a:latin typeface="Helvetica"/>
              </a:defRPr>
            </a:pPr>
            <a:r>
              <a:t>Human‑like sensing &amp; understanding</a:t>
            </a:r>
          </a:p>
          <a:p>
            <a:pPr>
              <a:defRPr sz="1300">
                <a:solidFill>
                  <a:srgbClr val="333333"/>
                </a:solidFill>
                <a:latin typeface="Helvetica"/>
              </a:defRPr>
            </a:pPr>
            <a:r>
              <a:t>Seamless collaboration</a:t>
            </a:r>
          </a:p>
          <a:p>
            <a:pPr>
              <a:defRPr sz="1300">
                <a:solidFill>
                  <a:srgbClr val="333333"/>
                </a:solidFill>
                <a:latin typeface="Helvetica"/>
              </a:defRPr>
            </a:pPr>
            <a:r>
              <a:t>Less explicit context mgmt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1737360"/>
            <a:ext cx="1920240" cy="2011680"/>
          </a:xfrm>
          <a:prstGeom prst="roundRect">
            <a:avLst/>
          </a:prstGeom>
          <a:solidFill>
            <a:srgbClr val="F9F9F9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600" b="1">
                <a:solidFill>
                  <a:srgbClr val="000000"/>
                </a:solidFill>
                <a:latin typeface="Helvetica"/>
              </a:defRPr>
            </a:pPr>
            <a:r>
              <a:t>4.0 Superhuman (speculative)</a:t>
            </a:r>
          </a:p>
          <a:p>
            <a:pPr>
              <a:defRPr sz="1300">
                <a:solidFill>
                  <a:srgbClr val="333333"/>
                </a:solidFill>
                <a:latin typeface="Helvetica"/>
              </a:defRPr>
            </a:pPr>
            <a:r>
              <a:t>Models construct context proactively</a:t>
            </a:r>
          </a:p>
          <a:p>
            <a:pPr>
              <a:defRPr sz="1300">
                <a:solidFill>
                  <a:srgbClr val="333333"/>
                </a:solidFill>
                <a:latin typeface="Helvetica"/>
              </a:defRPr>
            </a:pPr>
            <a:r>
              <a:t>Reveal hidden needs</a:t>
            </a:r>
          </a:p>
          <a:p>
            <a:pPr>
              <a:defRPr sz="1300">
                <a:solidFill>
                  <a:srgbClr val="333333"/>
                </a:solidFill>
                <a:latin typeface="Helvetica"/>
              </a:defRPr>
            </a:pPr>
            <a:r>
              <a:t>‘God’s‑eye view’ of intent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Helvetica"/>
              </a:defRPr>
            </a:pPr>
            <a:r>
              <a:t>Trend: increasing intelligence → decreasing human effort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66666"/>
                </a:solidFill>
                <a:latin typeface="Helvetica"/>
              </a:rPr>
              <a:t>© 2025 Automata Learning Lab | Professional educational materials crafted with care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00000"/>
                </a:solidFill>
                <a:latin typeface="Helvetica"/>
              </a:defRPr>
            </a:pPr>
            <a:r>
              <a:t>DESIGN CONSIDERATIONS (ERA 2.0)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Three dimensions form the pipeline: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1) Context Collection &amp; Storage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2) Context Management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3) Context Usage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66666"/>
                </a:solidFill>
                <a:latin typeface="Helvetica"/>
              </a:rPr>
              <a:t>© 2025 Automata Learning Lab | Professional educational materials crafted with care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00000"/>
                </a:solidFill>
                <a:latin typeface="Helvetica"/>
              </a:defRPr>
            </a:pPr>
            <a:r>
              <a:t>CONTEXT COLLECTION &amp; STORAGE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Multimodal sources: text, images, audio, sensors, logs, APIs.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Distributed storage: on‑device, edge, cloud, layered by latency.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926080"/>
            <a:ext cx="5303520" cy="2011680"/>
          </a:xfrm>
          <a:prstGeom prst="roundRect">
            <a:avLst/>
          </a:prstGeom>
          <a:solidFill>
            <a:srgbClr val="E8F5E8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600" b="1">
                <a:solidFill>
                  <a:srgbClr val="000000"/>
                </a:solidFill>
                <a:latin typeface="Helvetica"/>
              </a:defRPr>
            </a:pPr>
            <a:r>
              <a:t>Principle: Minimal Sufficiency</a:t>
            </a:r>
          </a:p>
          <a:p>
            <a:pPr>
              <a:defRPr sz="1300">
                <a:solidFill>
                  <a:srgbClr val="333333"/>
                </a:solidFill>
                <a:latin typeface="Helvetica"/>
              </a:defRPr>
            </a:pPr>
            <a:r>
              <a:t>Collect/store only what's needed for the task.</a:t>
            </a:r>
          </a:p>
          <a:p>
            <a:pPr>
              <a:defRPr sz="1300">
                <a:solidFill>
                  <a:srgbClr val="333333"/>
                </a:solidFill>
                <a:latin typeface="Helvetica"/>
              </a:defRPr>
            </a:pPr>
            <a:r>
              <a:t>Value is sufficiency, not volume.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2926080"/>
            <a:ext cx="5120640" cy="20116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600" b="1">
                <a:solidFill>
                  <a:srgbClr val="000000"/>
                </a:solidFill>
                <a:latin typeface="Helvetica"/>
              </a:defRPr>
            </a:pPr>
            <a:r>
              <a:t>Principle: Semantic Continuity</a:t>
            </a:r>
          </a:p>
          <a:p>
            <a:pPr>
              <a:defRPr sz="1300">
                <a:solidFill>
                  <a:srgbClr val="333333"/>
                </a:solidFill>
                <a:latin typeface="Helvetica"/>
              </a:defRPr>
            </a:pPr>
            <a:r>
              <a:t>Preserve continuity of meaning, not just raw data.</a:t>
            </a:r>
          </a:p>
          <a:p>
            <a:pPr>
              <a:defRPr sz="1300">
                <a:solidFill>
                  <a:srgbClr val="333333"/>
                </a:solidFill>
                <a:latin typeface="Helvetica"/>
              </a:defRPr>
            </a:pPr>
            <a:r>
              <a:t>Maintain coherence across time and devices.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66666"/>
                </a:solidFill>
                <a:latin typeface="Helvetica"/>
              </a:rPr>
              <a:t>© 2025 Automata Learning Lab | Professional educational materials crafted with care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00000"/>
                </a:solidFill>
                <a:latin typeface="Helvetica"/>
              </a:defRPr>
            </a:pPr>
            <a:r>
              <a:t>CONTEXT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Process raw context: clean, normalize, align modalities.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Organize memory in layers: short‑term → long‑term.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Isolate context to avoid contamination across tasks.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Abstract/compress using summaries or embeddings (‘self‑baking’).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66666"/>
                </a:solidFill>
                <a:latin typeface="Helvetica"/>
              </a:rPr>
              <a:t>© 2025 Automata Learning Lab | Professional educational materials crafted with care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00000"/>
                </a:solidFill>
                <a:latin typeface="Helvetica"/>
              </a:defRPr>
            </a:pPr>
            <a:r>
              <a:t>CONTEXT USAGE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Intra‑system sharing: agents pass context via prompts, schemas, or shared memory.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Cross‑system sharing: adapters or common representations between tools/agents.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Context selection: pick relevant pieces for understanding and action.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Proactive inference: mine preferences, infer hidden goals, offer help.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Lifelong preservation: update personal context without drift.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66666"/>
                </a:solidFill>
                <a:latin typeface="Helvetica"/>
              </a:rPr>
              <a:t>© 2025 Automata Learning Lab | Professional educational materials crafted with care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00000"/>
                </a:solidFill>
                <a:latin typeface="Helvetica"/>
              </a:defRPr>
            </a:pPr>
            <a:r>
              <a:t>APPLICATIONS: CODING CLIS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Example: Gemini CLI uses GEMINI.md files as project context.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Static context loads at startup; dynamic context accumulates in dialog.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History is periodically summarized into compact ‘reasoning state’.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66666"/>
                </a:solidFill>
                <a:latin typeface="Helvetica"/>
              </a:rPr>
              <a:t>© 2025 Automata Learning Lab | Professional educational materials crafted with care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00000"/>
                </a:solidFill>
                <a:latin typeface="Helvetica"/>
              </a:defRPr>
            </a:pPr>
            <a:r>
              <a:t>APPLICATIONS: DEEP RESEARCH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Open‑ended, long‑horizon search + reasoning.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Need periodic compression to stay within window.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Context snapshots preserve evidence and guide next searches.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66666"/>
                </a:solidFill>
                <a:latin typeface="Helvetica"/>
              </a:rPr>
              <a:t>© 2025 Automata Learning Lab | Professional educational materials crafted with care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00000"/>
                </a:solidFill>
                <a:latin typeface="Helvetica"/>
              </a:defRPr>
            </a:pPr>
            <a:r>
              <a:t>APPLICATIONS: BRAIN‑COMPUTER INTERFACES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BCIs can collect internal user state directly (attention, emotion, cognitive load).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Richer + more convenient context collection beyond language.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Still early: noisy signals, coarse interpretation.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66666"/>
                </a:solidFill>
                <a:latin typeface="Helvetica"/>
              </a:rPr>
              <a:t>© 2025 Automata Learning Lab | Professional educational materials crafted with care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00000"/>
                </a:solidFill>
                <a:latin typeface="Helvetica"/>
              </a:defRPr>
            </a:pPr>
            <a:r>
              <a:t>CHALLENGES &amp; FUTURE DIRECTIONS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Collection is still inefficient; users can’t always articulate intent.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Storage bottlenecks at lifelong scale.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Processing degradation in long contexts (latency + reasoning quality).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System instability and semantic drift over time.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Need better architectures + adaptive selection + evaluation frameworks.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66666"/>
                </a:solidFill>
                <a:latin typeface="Helvetica"/>
              </a:rPr>
              <a:t>© 2025 Automata Learning Lab | Professional educational materials crafted with care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00000"/>
                </a:solidFill>
                <a:latin typeface="Helvetica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Context engineering is a long‑evolving discipline.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Core job: reduce entropy between human intent and machine action.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Era 2.0 requires systematic pipelines for collection, management, and usage.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As models improve, human effort shifts from explicit context handling to oversight.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66666"/>
                </a:solidFill>
                <a:latin typeface="Helvetica"/>
              </a:rPr>
              <a:t>© 2025 Automata Learning Lab | Professional educational materials crafted with care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00000"/>
                </a:solidFill>
                <a:latin typeface="Helvetica"/>
              </a:defRPr>
            </a:pPr>
            <a:r>
              <a:t>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66666"/>
                </a:solidFill>
                <a:latin typeface="Helvetica"/>
              </a:rPr>
              <a:t>© 2025 Automata Learning Lab | Professional educational materials crafted with care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